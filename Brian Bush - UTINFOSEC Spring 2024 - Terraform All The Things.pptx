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4" r:id="rId2"/>
    <p:sldId id="262" r:id="rId3"/>
    <p:sldId id="263" r:id="rId4"/>
    <p:sldId id="259" r:id="rId5"/>
    <p:sldId id="260" r:id="rId6"/>
    <p:sldId id="265" r:id="rId7"/>
    <p:sldId id="258" r:id="rId8"/>
    <p:sldId id="261" r:id="rId9"/>
    <p:sldId id="25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6042"/>
    <a:srgbClr val="B966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0" autoAdjust="0"/>
    <p:restoredTop sz="84081" autoAdjust="0"/>
  </p:normalViewPr>
  <p:slideViewPr>
    <p:cSldViewPr snapToGrid="0">
      <p:cViewPr>
        <p:scale>
          <a:sx n="140" d="100"/>
          <a:sy n="140" d="100"/>
        </p:scale>
        <p:origin x="60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F3FD0-FEF4-45FF-9273-5EBE8BD5C96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E32D5-B48F-4485-9FAF-83DC36A9A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6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E32D5-B48F-4485-9FAF-83DC36A9A2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57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</a:t>
            </a:r>
          </a:p>
          <a:p>
            <a:r>
              <a:rPr lang="en-US" dirty="0" err="1"/>
              <a:t>Pulumi</a:t>
            </a:r>
            <a:r>
              <a:rPr lang="en-US" dirty="0"/>
              <a:t> </a:t>
            </a:r>
          </a:p>
          <a:p>
            <a:r>
              <a:rPr lang="en-US" dirty="0" err="1"/>
              <a:t>Opentofu</a:t>
            </a:r>
            <a:r>
              <a:rPr lang="en-US" dirty="0"/>
              <a:t> (opensource fork of Terraform)</a:t>
            </a:r>
          </a:p>
          <a:p>
            <a:r>
              <a:rPr lang="en-US" dirty="0"/>
              <a:t>AWS </a:t>
            </a:r>
            <a:r>
              <a:rPr lang="en-US" dirty="0" err="1"/>
              <a:t>Cloudformation</a:t>
            </a:r>
            <a:endParaRPr lang="en-US" dirty="0"/>
          </a:p>
          <a:p>
            <a:r>
              <a:rPr lang="en-US" dirty="0"/>
              <a:t>(Ansible, not represented here)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E32D5-B48F-4485-9FAF-83DC36A9A2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73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E32D5-B48F-4485-9FAF-83DC36A9A2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71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E32D5-B48F-4485-9FAF-83DC36A9A2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83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E32D5-B48F-4485-9FAF-83DC36A9A2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71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E32D5-B48F-4485-9FAF-83DC36A9A2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37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E32D5-B48F-4485-9FAF-83DC36A9A2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11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resenta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19213"/>
            <a:ext cx="10515600" cy="115728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747911"/>
            <a:ext cx="10515600" cy="6335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EC2A8F-A9B4-4210-9F28-0F86B8E8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7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E8B27C-8573-8D86-D98F-E93757FA4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7775"/>
            <a:ext cx="10515600" cy="1047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285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051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620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33700"/>
            <a:ext cx="10515600" cy="32432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4332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19213"/>
            <a:ext cx="10515600" cy="115728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762250"/>
            <a:ext cx="10515600" cy="3327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EC2A8F-A9B4-4210-9F28-0F86B8E8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17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519"/>
            <a:ext cx="10515600" cy="110849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47745"/>
            <a:ext cx="5181600" cy="41292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47745"/>
            <a:ext cx="5181600" cy="41292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DC5459-1009-CCB1-0E7B-1C27C66F1E71}"/>
              </a:ext>
            </a:extLst>
          </p:cNvPr>
          <p:cNvCxnSpPr/>
          <p:nvPr userDrawn="1"/>
        </p:nvCxnSpPr>
        <p:spPr>
          <a:xfrm>
            <a:off x="838200" y="1764407"/>
            <a:ext cx="10515600" cy="0"/>
          </a:xfrm>
          <a:prstGeom prst="line">
            <a:avLst/>
          </a:prstGeom>
          <a:ln w="9525">
            <a:solidFill>
              <a:srgbClr val="AE60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96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7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1919"/>
            <a:ext cx="10515600" cy="757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24100"/>
            <a:ext cx="5157787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3267075"/>
            <a:ext cx="5157787" cy="29225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612" y="2324100"/>
            <a:ext cx="5183188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267075"/>
            <a:ext cx="5183188" cy="29225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680608-5D3D-FB8F-FF7C-0723206D5C36}"/>
              </a:ext>
            </a:extLst>
          </p:cNvPr>
          <p:cNvCxnSpPr/>
          <p:nvPr userDrawn="1"/>
        </p:nvCxnSpPr>
        <p:spPr>
          <a:xfrm>
            <a:off x="838200" y="1764407"/>
            <a:ext cx="10515600" cy="0"/>
          </a:xfrm>
          <a:prstGeom prst="line">
            <a:avLst/>
          </a:prstGeom>
          <a:ln w="9525">
            <a:solidFill>
              <a:srgbClr val="AE60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63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71599"/>
            <a:ext cx="3932237" cy="885825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7775" y="1371600"/>
            <a:ext cx="6297613" cy="470535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66974"/>
            <a:ext cx="3932237" cy="3609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5931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47775"/>
            <a:ext cx="10515600" cy="1047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771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7" r:id="rId3"/>
    <p:sldLayoutId id="2147483650" r:id="rId4"/>
    <p:sldLayoutId id="2147483651" r:id="rId5"/>
    <p:sldLayoutId id="2147483652" r:id="rId6"/>
    <p:sldLayoutId id="2147483658" r:id="rId7"/>
    <p:sldLayoutId id="2147483653" r:id="rId8"/>
    <p:sldLayoutId id="214748365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mailto:brian.m.bush@uth.tmc.edu" TargetMode="External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github.com/bbush-uthealth/" TargetMode="External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eekflare.com/infrastructure-as-code-intro/" TargetMode="External"/><Relationship Id="rId2" Type="http://schemas.openxmlformats.org/officeDocument/2006/relationships/hyperlink" Target="https://developer.hashicorp.com/terraform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TaptuIT/awesome-devsecops" TargetMode="External"/><Relationship Id="rId4" Type="http://schemas.openxmlformats.org/officeDocument/2006/relationships/hyperlink" Target="https://dodcio.defense.gov/Portals/0/Documents/Library/DevSecOpsTools-ActivitiesGuidebook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mailto:brian.m.bush@uth.tmc.edu" TargetMode="External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github.com/bbush-uthealth/" TargetMode="External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2BD9-7603-981A-A03C-DCF6BE463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9213"/>
            <a:ext cx="10515600" cy="14326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Terraform All The Things </a:t>
            </a:r>
            <a:br>
              <a:rPr lang="en-US" dirty="0"/>
            </a:br>
            <a:br>
              <a:rPr lang="en-US" sz="3100" dirty="0"/>
            </a:br>
            <a:r>
              <a:rPr lang="en-US" sz="4900" dirty="0"/>
              <a:t>Security As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5E967-51D1-EF90-BC20-4249D8DF8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31474"/>
            <a:ext cx="10515600" cy="592183"/>
          </a:xfrm>
        </p:spPr>
        <p:txBody>
          <a:bodyPr/>
          <a:lstStyle/>
          <a:p>
            <a:pPr algn="ctr"/>
            <a:r>
              <a:rPr lang="en-US" dirty="0"/>
              <a:t>Brian Bush,</a:t>
            </a:r>
            <a:r>
              <a:rPr lang="en-US" sz="1800" dirty="0"/>
              <a:t> CISSP</a:t>
            </a:r>
            <a:r>
              <a:rPr lang="en-US" dirty="0"/>
              <a:t> </a:t>
            </a:r>
            <a:r>
              <a:rPr lang="en-US" sz="4000" dirty="0"/>
              <a:t>|</a:t>
            </a:r>
            <a:r>
              <a:rPr lang="en-US" dirty="0"/>
              <a:t> Security Architect</a:t>
            </a:r>
          </a:p>
        </p:txBody>
      </p:sp>
    </p:spTree>
    <p:extLst>
      <p:ext uri="{BB962C8B-B14F-4D97-AF65-F5344CB8AC3E}">
        <p14:creationId xmlns:p14="http://schemas.microsoft.com/office/powerpoint/2010/main" val="2826751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8076-AC08-A10D-3B9A-698349BD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42056"/>
            <a:ext cx="3932237" cy="885825"/>
          </a:xfrm>
        </p:spPr>
        <p:txBody>
          <a:bodyPr>
            <a:normAutofit/>
          </a:bodyPr>
          <a:lstStyle/>
          <a:p>
            <a:r>
              <a:rPr lang="en-US" sz="4800" dirty="0"/>
              <a:t>Brian Bush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A5A90-CF53-21F3-46B0-0F5913971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450041"/>
            <a:ext cx="3932237" cy="35588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26+ years in IT &amp; Security</a:t>
            </a:r>
          </a:p>
          <a:p>
            <a:r>
              <a:rPr lang="en-US" dirty="0"/>
              <a:t>Newly back at UTHealth Houston</a:t>
            </a:r>
          </a:p>
          <a:p>
            <a:r>
              <a:rPr lang="en-US" dirty="0"/>
              <a:t>3y leading a DevSecOps team while away...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</a:t>
            </a:r>
            <a:r>
              <a:rPr lang="en-US" dirty="0">
                <a:hlinkClick r:id="rId3"/>
              </a:rPr>
              <a:t>brian.m.bush@uth.tmc.edu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>
                <a:hlinkClick r:id="rId4"/>
              </a:rPr>
              <a:t>https://github.com/bbush-uthealth/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 descr="A cartoon character with mouth open and mouth open&#10;&#10;Description automatically generated">
            <a:extLst>
              <a:ext uri="{FF2B5EF4-FFF2-40B4-BE49-F238E27FC236}">
                <a16:creationId xmlns:a16="http://schemas.microsoft.com/office/drawing/2014/main" id="{AA997BC9-FA0F-CC2B-CB04-67C283E9C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51000"/>
            <a:ext cx="5975665" cy="47053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66F84AD-0E91-C8FD-F7FD-6EBBBD3DCB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734" y="5283202"/>
            <a:ext cx="203199" cy="2031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D457E05-E4D5-E1CE-4B34-8166B4BAB94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734" y="5638804"/>
            <a:ext cx="203199" cy="1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6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2B02-EA1C-5662-3FBF-1A0C7079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Infrastructure As Code [</a:t>
            </a:r>
            <a:r>
              <a:rPr lang="en-US" dirty="0" err="1"/>
              <a:t>IaC</a:t>
            </a:r>
            <a:r>
              <a:rPr lang="en-US" dirty="0"/>
              <a:t>]</a:t>
            </a:r>
          </a:p>
        </p:txBody>
      </p:sp>
      <p:pic>
        <p:nvPicPr>
          <p:cNvPr id="5" name="Content Placeholder 4" descr="Terraform">
            <a:extLst>
              <a:ext uri="{FF2B5EF4-FFF2-40B4-BE49-F238E27FC236}">
                <a16:creationId xmlns:a16="http://schemas.microsoft.com/office/drawing/2014/main" id="{362723C1-124E-1E24-7449-BAC0FF099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106" y="3114182"/>
            <a:ext cx="2144112" cy="2144112"/>
          </a:xfrm>
        </p:spPr>
      </p:pic>
      <p:pic>
        <p:nvPicPr>
          <p:cNvPr id="7" name="Graphic 6" descr="Pulumi">
            <a:extLst>
              <a:ext uri="{FF2B5EF4-FFF2-40B4-BE49-F238E27FC236}">
                <a16:creationId xmlns:a16="http://schemas.microsoft.com/office/drawing/2014/main" id="{EFED37DA-AA8D-9B6B-DE32-872F9CFE38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3155" y="3114182"/>
            <a:ext cx="2144112" cy="2144112"/>
          </a:xfrm>
          <a:prstGeom prst="rect">
            <a:avLst/>
          </a:prstGeom>
        </p:spPr>
      </p:pic>
      <p:pic>
        <p:nvPicPr>
          <p:cNvPr id="9" name="Graphic 8" descr="OpenTofu">
            <a:extLst>
              <a:ext uri="{FF2B5EF4-FFF2-40B4-BE49-F238E27FC236}">
                <a16:creationId xmlns:a16="http://schemas.microsoft.com/office/drawing/2014/main" id="{CA0ECCB3-C177-6D1A-79DC-F14F7697AF5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8204" y="3114182"/>
            <a:ext cx="2144112" cy="21441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34423C5-7CD5-89F1-CB19-CB46B6E171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43254" y="3114181"/>
            <a:ext cx="2144112" cy="214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6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7CF2-36F7-1EF2-286E-F96C737B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</a:t>
            </a:r>
            <a:r>
              <a:rPr lang="en-US" dirty="0" err="1"/>
              <a:t>IaC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BE64B-D864-FE61-38A5-98E8B9465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9650" y="2914650"/>
            <a:ext cx="5264150" cy="332740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Security &amp; Compliance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Scalability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Just Say Yes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AAA6605-9BBA-8D84-2347-647E09F9BCFC}"/>
              </a:ext>
            </a:extLst>
          </p:cNvPr>
          <p:cNvSpPr txBox="1">
            <a:spLocks/>
          </p:cNvSpPr>
          <p:nvPr/>
        </p:nvSpPr>
        <p:spPr>
          <a:xfrm>
            <a:off x="825500" y="2914650"/>
            <a:ext cx="5264150" cy="33274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Consistence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Collaboration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267180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101A-FFAE-2158-BD39-E5FDB690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Terraform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F1613A-C687-27B8-E73A-F820B3D274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Define resources</a:t>
            </a:r>
          </a:p>
          <a:p>
            <a:r>
              <a:rPr lang="en-US" dirty="0"/>
              <a:t>Create plan</a:t>
            </a:r>
          </a:p>
          <a:p>
            <a:r>
              <a:rPr lang="en-US" dirty="0"/>
              <a:t>Wait...</a:t>
            </a:r>
          </a:p>
          <a:p>
            <a:r>
              <a:rPr lang="en-US" dirty="0"/>
              <a:t>Apply infrastructure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Many providers available</a:t>
            </a:r>
          </a:p>
        </p:txBody>
      </p:sp>
      <p:pic>
        <p:nvPicPr>
          <p:cNvPr id="11" name="Content Placeholder 7" descr="Cartoon of two people in chairs in a room with text&#10;&#10;Description automatically generated">
            <a:extLst>
              <a:ext uri="{FF2B5EF4-FFF2-40B4-BE49-F238E27FC236}">
                <a16:creationId xmlns:a16="http://schemas.microsoft.com/office/drawing/2014/main" id="{E40633BB-537F-6375-1B25-279B1DC430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509" y="2047875"/>
            <a:ext cx="4736981" cy="4129088"/>
          </a:xfrm>
        </p:spPr>
      </p:pic>
    </p:spTree>
    <p:extLst>
      <p:ext uri="{BB962C8B-B14F-4D97-AF65-F5344CB8AC3E}">
        <p14:creationId xmlns:p14="http://schemas.microsoft.com/office/powerpoint/2010/main" val="11016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101A-FFAE-2158-BD39-E5FDB690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CI/CD &amp; </a:t>
            </a:r>
            <a:r>
              <a:rPr lang="en-US" dirty="0" err="1"/>
              <a:t>DevSecOps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FD3F3-F552-81F1-5DC6-2BD4FB8FC7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Shift Left</a:t>
            </a:r>
          </a:p>
          <a:p>
            <a:r>
              <a:rPr lang="en-US" dirty="0"/>
              <a:t>DAST</a:t>
            </a:r>
          </a:p>
          <a:p>
            <a:r>
              <a:rPr lang="en-US" dirty="0"/>
              <a:t>SAST</a:t>
            </a:r>
          </a:p>
          <a:p>
            <a:r>
              <a:rPr lang="en-US" dirty="0"/>
              <a:t>Coding Standards</a:t>
            </a:r>
          </a:p>
          <a:p>
            <a:r>
              <a:rPr lang="en-US" dirty="0"/>
              <a:t>Policy As Code</a:t>
            </a:r>
          </a:p>
          <a:p>
            <a:r>
              <a:rPr lang="en-US" dirty="0"/>
              <a:t>Cultural Shift</a:t>
            </a:r>
          </a:p>
          <a:p>
            <a:endParaRPr lang="en-US" dirty="0"/>
          </a:p>
        </p:txBody>
      </p:sp>
      <p:pic>
        <p:nvPicPr>
          <p:cNvPr id="6" name="Content Placeholder 5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A5FF9186-3A4B-0D4D-A90C-EF2885FBF4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4250" y="2912269"/>
            <a:ext cx="2857500" cy="2400300"/>
          </a:xfrm>
        </p:spPr>
      </p:pic>
    </p:spTree>
    <p:extLst>
      <p:ext uri="{BB962C8B-B14F-4D97-AF65-F5344CB8AC3E}">
        <p14:creationId xmlns:p14="http://schemas.microsoft.com/office/powerpoint/2010/main" val="73234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2C8C-42A3-C584-D776-17F89D154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IaC</a:t>
            </a:r>
            <a:r>
              <a:rPr lang="en-US" dirty="0"/>
              <a:t> + CI/CD = Security As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3BB63-1501-1341-5801-74D0544F1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Consistency &amp; Reproducibility</a:t>
            </a:r>
          </a:p>
          <a:p>
            <a:r>
              <a:rPr lang="en-US" dirty="0"/>
              <a:t>Automated Compliance</a:t>
            </a:r>
          </a:p>
          <a:p>
            <a:r>
              <a:rPr lang="en-US" dirty="0"/>
              <a:t>Rapid Deployment</a:t>
            </a:r>
          </a:p>
          <a:p>
            <a:r>
              <a:rPr lang="en-US" dirty="0"/>
              <a:t>Immutable Infrastructure (and Security Controls)</a:t>
            </a:r>
          </a:p>
          <a:p>
            <a:r>
              <a:rPr lang="en-US" dirty="0"/>
              <a:t>Automated Testing &amp; Validation</a:t>
            </a:r>
          </a:p>
          <a:p>
            <a:r>
              <a:rPr lang="en-US" dirty="0"/>
              <a:t>Disaster Recovery &amp; Resilience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2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F9CBC-AB63-16B0-1CB8-9ECBFDAD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D9336-5F1D-341D-4A11-22F87EFC6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Infrastructure-As-Code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828BB-AAFA-5532-28F1-00D8A94290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Terraform Documentation</a:t>
            </a:r>
            <a:endParaRPr lang="en-US" dirty="0"/>
          </a:p>
          <a:p>
            <a:r>
              <a:rPr lang="en-US" dirty="0">
                <a:hlinkClick r:id="rId3"/>
              </a:rPr>
              <a:t>IaC Intro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F7409-7C6D-8E9E-96A7-C6D5EB4B8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Dev&lt;Sec&gt;Ops – CI/CD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8E0C6-33F6-83D2-2204-FC79C407750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>
                <a:hlinkClick r:id="rId4"/>
              </a:rPr>
              <a:t>DevSecOps Fundamentals Guidebook: - DoD CIO</a:t>
            </a:r>
          </a:p>
          <a:p>
            <a:r>
              <a:rPr lang="en-US" dirty="0">
                <a:hlinkClick r:id="rId5"/>
              </a:rPr>
              <a:t>Awesome DevSecOps Repo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387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text&#10;&#10;Description automatically generated">
            <a:extLst>
              <a:ext uri="{FF2B5EF4-FFF2-40B4-BE49-F238E27FC236}">
                <a16:creationId xmlns:a16="http://schemas.microsoft.com/office/drawing/2014/main" id="{6D5354CD-DEF6-FBF8-1725-D183FCDF7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4275" y="1057275"/>
            <a:ext cx="47434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1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8076-AC08-A10D-3B9A-698349BD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42056"/>
            <a:ext cx="3932237" cy="885825"/>
          </a:xfrm>
        </p:spPr>
        <p:txBody>
          <a:bodyPr>
            <a:normAutofit/>
          </a:bodyPr>
          <a:lstStyle/>
          <a:p>
            <a:r>
              <a:rPr lang="en-US" sz="4800" dirty="0"/>
              <a:t>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A5A90-CF53-21F3-46B0-0F5913971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450041"/>
            <a:ext cx="3932237" cy="355887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Brian Bush</a:t>
            </a:r>
          </a:p>
          <a:p>
            <a:r>
              <a:rPr lang="en-US" dirty="0"/>
              <a:t>      </a:t>
            </a:r>
            <a:r>
              <a:rPr lang="en-US" dirty="0">
                <a:hlinkClick r:id="rId3"/>
              </a:rPr>
              <a:t>brian.m.bush@uth.tmc.edu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>
                <a:hlinkClick r:id="rId4"/>
              </a:rPr>
              <a:t>https://github.com/bbush-uthealth/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 descr="A cartoon character with mouth open and mouth open&#10;&#10;Description automatically generated">
            <a:extLst>
              <a:ext uri="{FF2B5EF4-FFF2-40B4-BE49-F238E27FC236}">
                <a16:creationId xmlns:a16="http://schemas.microsoft.com/office/drawing/2014/main" id="{AA997BC9-FA0F-CC2B-CB04-67C283E9C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51000"/>
            <a:ext cx="5975665" cy="47053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66F84AD-0E91-C8FD-F7FD-6EBBBD3DCB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734" y="5283202"/>
            <a:ext cx="203199" cy="2031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D457E05-E4D5-E1CE-4B34-8166B4BAB94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734" y="5638804"/>
            <a:ext cx="203199" cy="1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200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TH-Orange-Dusty-Lavender 2023" id="{C55EABB0-E6A0-3B43-920A-12E6E3791E1E}" vid="{E3F2A95C-AAD9-0E4C-ADF2-0A1B0F0F99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2103</TotalTime>
  <Words>212</Words>
  <Application>Microsoft Macintosh PowerPoint</Application>
  <PresentationFormat>Widescreen</PresentationFormat>
  <Paragraphs>78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Terraform All The Things   Security As Code</vt:lpstr>
      <vt:lpstr>Brian Bush</vt:lpstr>
      <vt:lpstr>Infrastructure As Code [IaC]</vt:lpstr>
      <vt:lpstr>Why IaC?</vt:lpstr>
      <vt:lpstr>Terraform</vt:lpstr>
      <vt:lpstr>CI/CD &amp; DevSecOps</vt:lpstr>
      <vt:lpstr>IaC + CI/CD = Security As Code</vt:lpstr>
      <vt:lpstr>Resources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Mathews, Lauren</dc:creator>
  <cp:lastModifiedBy>dead .</cp:lastModifiedBy>
  <cp:revision>15</cp:revision>
  <dcterms:created xsi:type="dcterms:W3CDTF">2023-02-21T21:39:47Z</dcterms:created>
  <dcterms:modified xsi:type="dcterms:W3CDTF">2024-04-23T12:56:38Z</dcterms:modified>
</cp:coreProperties>
</file>